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p:scale>
          <a:sx n="33" d="100"/>
          <a:sy n="33" d="100"/>
        </p:scale>
        <p:origin x="833" y="26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  </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Date:06-05-2026</a:t>
            </a: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G.Varun</a:t>
            </a:r>
            <a:r>
              <a:rPr lang="en-US" sz="3000" dirty="0">
                <a:latin typeface="Cambria" panose="02040503050406030204" pitchFamily="18" charset="0"/>
                <a:ea typeface="Cambria" panose="02040503050406030204" pitchFamily="18" charset="0"/>
              </a:rPr>
              <a:t> – VTU26421 – 23UECS1073</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8686800" y="7818586"/>
            <a:ext cx="9172839"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           Courses Handling Faculty:</a:t>
            </a:r>
          </a:p>
          <a:p>
            <a:pPr>
              <a:lnSpc>
                <a:spcPct val="150000"/>
              </a:lnSpc>
            </a:pP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Dr.M.SUMITHRA</a:t>
            </a:r>
            <a:r>
              <a:rPr lang="en-US" sz="3000" dirty="0">
                <a:latin typeface="Cambria" panose="02040503050406030204" pitchFamily="18" charset="0"/>
                <a:ea typeface="Cambria" panose="02040503050406030204" pitchFamily="18" charset="0"/>
              </a:rPr>
              <a:t> –ASSISTANT PROFESSOR(SG)</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1360002" y="6922648"/>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
        <p:nvSpPr>
          <p:cNvPr id="3" name="TextBox 2"/>
          <p:cNvSpPr txBox="1"/>
          <p:nvPr/>
        </p:nvSpPr>
        <p:spPr>
          <a:xfrm rot="10800000" flipV="1">
            <a:off x="2514597" y="5732596"/>
            <a:ext cx="11887202" cy="584775"/>
          </a:xfrm>
          <a:prstGeom prst="rect">
            <a:avLst/>
          </a:prstGeom>
          <a:noFill/>
        </p:spPr>
        <p:txBody>
          <a:bodyPr wrap="square">
            <a:spAutoFit/>
          </a:bodyPr>
          <a:lstStyle/>
          <a:p>
            <a:r>
              <a:rPr lang="en-US" sz="3200" b="1" dirty="0">
                <a:solidFill>
                  <a:srgbClr val="000000"/>
                </a:solidFill>
                <a:latin typeface="Times New Roman" panose="02020603050405020304" pitchFamily="18" charset="0"/>
                <a:cs typeface="Times New Roman" panose="02020603050405020304" pitchFamily="18" charset="0"/>
              </a:rPr>
              <a:t>                               EVENT TICKET BOOKING SYSTEM</a:t>
            </a: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057399" y="2171700"/>
            <a:ext cx="15087601" cy="6001643"/>
          </a:xfrm>
          <a:prstGeom prst="rect">
            <a:avLst/>
          </a:prstGeom>
          <a:noFill/>
        </p:spPr>
        <p:txBody>
          <a:bodyPr wrap="square" rtlCol="0">
            <a:spAutoFit/>
          </a:bodyPr>
          <a:lstStyle/>
          <a:p>
            <a:pPr algn="just"/>
            <a:r>
              <a:rPr lang="en-GB" sz="3200" dirty="0"/>
              <a:t>The Technical Fest Ticket Booking Platform is a comprehensive web-based application designed to offer a seamless and efficient way for users to book tickets for various college fest events, workshops, and competitions. This system replaces manual ticketing processes, enabling users to seamlessly browse upcoming events, view detailed descriptions, and reserve tickets in real-time. The frontend is built with </a:t>
            </a:r>
            <a:r>
              <a:rPr lang="en-GB" sz="3200" b="1" dirty="0"/>
              <a:t>React</a:t>
            </a:r>
            <a:r>
              <a:rPr lang="en-GB" sz="3200" dirty="0"/>
              <a:t> using Visual Studio Code, delivering a highly interactive and responsive user experience. The backend is powered by </a:t>
            </a:r>
            <a:r>
              <a:rPr lang="en-GB" sz="3200" b="1" dirty="0"/>
              <a:t>Spring Boot</a:t>
            </a:r>
            <a:r>
              <a:rPr lang="en-GB" sz="3200" dirty="0"/>
              <a:t> and developed in Eclipse, leveraging a robust </a:t>
            </a:r>
            <a:r>
              <a:rPr lang="en-GB" sz="3200" b="1" dirty="0"/>
              <a:t>microservices architecture</a:t>
            </a:r>
            <a:r>
              <a:rPr lang="en-GB" sz="3200" dirty="0"/>
              <a:t> (including an API Gateway and Eureka Service Registry) to ensure high scalability, flexibility, and maintainability. Data management is handled securely by a </a:t>
            </a:r>
            <a:r>
              <a:rPr lang="en-GB" sz="3200" b="1" dirty="0"/>
              <a:t>MySQL</a:t>
            </a:r>
            <a:r>
              <a:rPr lang="en-GB" sz="3200" dirty="0"/>
              <a:t> database, which stores user profiles, event information, and booking histories. Ultimately, this platform streamlines the ticketing experience for attendees while empowering fest organizers with an efficient tool to manage event registrations.</a:t>
            </a:r>
            <a:endParaRPr lang="en-IN" sz="4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33600" y="2324100"/>
            <a:ext cx="15158525" cy="6001643"/>
          </a:xfrm>
          <a:prstGeom prst="rect">
            <a:avLst/>
          </a:prstGeom>
          <a:noFill/>
        </p:spPr>
        <p:txBody>
          <a:bodyPr wrap="square" rtlCol="0">
            <a:spAutoFit/>
          </a:bodyPr>
          <a:lstStyle/>
          <a:p>
            <a:pPr algn="just"/>
            <a:r>
              <a:rPr lang="en-GB" sz="3200" dirty="0"/>
              <a:t>The current technical fest ticket booking process often relies on manual methods or monolithic, inefficient systems. This leads to issues such as long registration queues, delayed booking confirmations, lack of real-time availability updates, and increased chances of human error. Students and attendees find it difficult to get accurate, up-to-date information about fest events, seat availability, and their booking status. Simultaneously, event organizers struggle to manually manage registrations, track bookings, and handle large volumes of participant data efficiently. Furthermore, traditional systems often lack the scalability and flexibility required to handle the high traffic of multiple concurrent fest events. Therefore, there is a critical need for a reliable, secure, and automated ticket booking platform that provides real-time updates, simplifies the user experience, and ensures efficient data management leveraging modern, scalable technologies like a microservices architecture.</a:t>
            </a:r>
            <a:endParaRPr lang="en-IN"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3"/>
          <p:cNvSpPr txBox="1"/>
          <p:nvPr/>
        </p:nvSpPr>
        <p:spPr>
          <a:xfrm>
            <a:off x="2743200" y="2171700"/>
            <a:ext cx="13716000" cy="5509200"/>
          </a:xfrm>
          <a:prstGeom prst="rect">
            <a:avLst/>
          </a:prstGeom>
          <a:noFill/>
        </p:spPr>
        <p:txBody>
          <a:bodyPr wrap="square">
            <a:spAutoFit/>
          </a:bodyPr>
          <a:lstStyle/>
          <a:p>
            <a:pPr marL="457200" indent="-457200" algn="just">
              <a:buFont typeface="Arial" panose="020B0604020202020204" pitchFamily="34" charset="0"/>
              <a:buChar char="•"/>
            </a:pPr>
            <a:r>
              <a:rPr lang="en-GB" sz="3200" b="1" dirty="0"/>
              <a:t>To develop a highly interactive, user-friendly frontend platform</a:t>
            </a:r>
            <a:r>
              <a:rPr lang="en-GB" sz="3200" dirty="0"/>
              <a:t> (using React) that allows students and attendees to easily browse technical fest events, check real-time seat availability, and instantly book tickets without any manual intervention.</a:t>
            </a:r>
            <a:endParaRPr lang="en-GB" sz="4800" dirty="0"/>
          </a:p>
          <a:p>
            <a:pPr marL="457200" indent="-457200" algn="just">
              <a:buFont typeface="Arial" panose="020B0604020202020204" pitchFamily="34" charset="0"/>
              <a:buChar char="•"/>
            </a:pPr>
            <a:r>
              <a:rPr lang="en-GB" sz="3200" b="1" dirty="0"/>
              <a:t>To provide event organizers with an automated system</a:t>
            </a:r>
            <a:r>
              <a:rPr lang="en-GB" sz="3200" dirty="0"/>
              <a:t> to effortlessly track event registrations, manage ticket capacities, and monitor overall fest engagement in real-time.</a:t>
            </a:r>
          </a:p>
          <a:p>
            <a:pPr marL="457200" indent="-457200" algn="just">
              <a:buFont typeface="Arial" panose="020B0604020202020204" pitchFamily="34" charset="0"/>
              <a:buChar char="•"/>
            </a:pPr>
            <a:r>
              <a:rPr lang="en-GB" sz="3200" b="1" dirty="0"/>
              <a:t>To design and implement a highly scalable and efficient backend system</a:t>
            </a:r>
            <a:r>
              <a:rPr lang="en-GB" sz="3200" dirty="0"/>
              <a:t> utilizing a Spring Boot microservices architecture (including an API Gateway and Service Registry) to ensure fault tolerance and seamless communication between services.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590800" y="2247900"/>
            <a:ext cx="14554200" cy="6986528"/>
          </a:xfrm>
          <a:prstGeom prst="rect">
            <a:avLst/>
          </a:prstGeom>
          <a:noFill/>
        </p:spPr>
        <p:txBody>
          <a:bodyPr wrap="square">
            <a:spAutoFit/>
          </a:bodyPr>
          <a:lstStyle/>
          <a:p>
            <a:pPr marL="457200" indent="-457200" algn="just">
              <a:buFont typeface="Arial" panose="020B0604020202020204" pitchFamily="34" charset="0"/>
              <a:buChar char="•"/>
            </a:pPr>
            <a:r>
              <a:rPr lang="en-GB" sz="2800" b="1" dirty="0"/>
              <a:t>24/7 Accessibility:</a:t>
            </a:r>
            <a:r>
              <a:rPr lang="en-GB" sz="2800" dirty="0"/>
              <a:t> Provides an online, automated platform for students and users to easily browse and book tickets for various technical fest events anytime and anywhere.</a:t>
            </a:r>
          </a:p>
          <a:p>
            <a:pPr marL="457200" indent="-457200" algn="just">
              <a:buFont typeface="Arial" panose="020B0604020202020204" pitchFamily="34" charset="0"/>
              <a:buChar char="•"/>
            </a:pPr>
            <a:r>
              <a:rPr lang="en-GB" sz="2800" b="1" dirty="0"/>
              <a:t>Real-Time Data:</a:t>
            </a:r>
            <a:r>
              <a:rPr lang="en-GB" sz="2800" dirty="0"/>
              <a:t> Displays real-time information, including detailed event descriptions, dynamic seat availability, and instant booking status confirmations.</a:t>
            </a:r>
          </a:p>
          <a:p>
            <a:pPr marL="457200" indent="-457200" algn="just">
              <a:buFont typeface="Arial" panose="020B0604020202020204" pitchFamily="34" charset="0"/>
              <a:buChar char="•"/>
            </a:pPr>
            <a:r>
              <a:rPr lang="en-GB" sz="2800" b="1" dirty="0"/>
              <a:t>Modern Frontend:</a:t>
            </a:r>
            <a:r>
              <a:rPr lang="en-GB" sz="2800" dirty="0"/>
              <a:t> Features a highly responsive and interactive frontend (developed using </a:t>
            </a:r>
            <a:r>
              <a:rPr lang="en-GB" sz="2800" b="1" dirty="0"/>
              <a:t>React</a:t>
            </a:r>
            <a:r>
              <a:rPr lang="en-GB" sz="2800" dirty="0"/>
              <a:t> in VS Code) to ensure a smooth, dynamic, and cross-platform user experience.</a:t>
            </a:r>
          </a:p>
          <a:p>
            <a:pPr marL="457200" indent="-457200" algn="just">
              <a:buFont typeface="Arial" panose="020B0604020202020204" pitchFamily="34" charset="0"/>
              <a:buChar char="•"/>
            </a:pPr>
            <a:r>
              <a:rPr lang="en-GB" sz="2800" b="1" dirty="0"/>
              <a:t>Robust Backend Architecture:</a:t>
            </a:r>
            <a:r>
              <a:rPr lang="en-GB" sz="2800" dirty="0"/>
              <a:t> Implements a powerful </a:t>
            </a:r>
            <a:r>
              <a:rPr lang="en-GB" sz="2800" b="1" dirty="0"/>
              <a:t>Spring Boot microservices-based backend</a:t>
            </a:r>
            <a:r>
              <a:rPr lang="en-GB" sz="2800" dirty="0"/>
              <a:t> (developed in Eclipse), utilizing an API Gateway to ensure maximum scalability, flexibility, and fault tolerance.</a:t>
            </a:r>
            <a:r>
              <a:rPr lang="en-GB" sz="2800" b="1" dirty="0"/>
              <a:t> </a:t>
            </a:r>
          </a:p>
          <a:p>
            <a:pPr marL="457200" indent="-457200" algn="just">
              <a:buFont typeface="Arial" panose="020B0604020202020204" pitchFamily="34" charset="0"/>
              <a:buChar char="•"/>
            </a:pPr>
            <a:r>
              <a:rPr lang="en-GB" sz="2800" b="1" dirty="0"/>
              <a:t>Modular Design:</a:t>
            </a:r>
            <a:r>
              <a:rPr lang="en-GB" sz="2800" dirty="0"/>
              <a:t> Employs isolated, dedicated microservices specifically for </a:t>
            </a:r>
            <a:r>
              <a:rPr lang="en-GB" sz="2800" i="1" dirty="0"/>
              <a:t>User Management</a:t>
            </a:r>
            <a:r>
              <a:rPr lang="en-GB" sz="2800" dirty="0"/>
              <a:t>, </a:t>
            </a:r>
            <a:r>
              <a:rPr lang="en-GB" sz="2800" i="1" dirty="0"/>
              <a:t>Event </a:t>
            </a:r>
            <a:r>
              <a:rPr lang="en-GB" sz="2800" i="1" dirty="0" err="1"/>
              <a:t>Cataloging</a:t>
            </a:r>
            <a:r>
              <a:rPr lang="en-GB" sz="2800" dirty="0"/>
              <a:t>, and </a:t>
            </a:r>
            <a:r>
              <a:rPr lang="en-GB" sz="2800" i="1" dirty="0"/>
              <a:t>Booking Operations</a:t>
            </a:r>
            <a:r>
              <a:rPr lang="en-GB" sz="2800" dirty="0"/>
              <a:t> to ensure the system remains highly maintainable.</a:t>
            </a:r>
          </a:p>
          <a:p>
            <a:pPr marL="457200" indent="-457200" algn="just">
              <a:buFont typeface="Arial" panose="020B0604020202020204" pitchFamily="34" charset="0"/>
              <a:buChar char="•"/>
            </a:pPr>
            <a:r>
              <a:rPr lang="en-GB" sz="2800" b="1" dirty="0"/>
              <a:t>Process Automation:</a:t>
            </a:r>
            <a:r>
              <a:rPr lang="en-GB" sz="2800" dirty="0"/>
              <a:t> Completely automates the ticketing lifecycle, significantly reducing manual errors, eliminating the need for physical tickets, and automatically preventing event overbooking.</a:t>
            </a:r>
          </a:p>
          <a:p>
            <a:pPr marL="457200" indent="-457200" algn="just">
              <a:buFont typeface="Arial" panose="020B0604020202020204" pitchFamily="34" charset="0"/>
              <a:buChar char="•"/>
            </a:pPr>
            <a:endParaRPr lang="en-GB"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sp>
        <p:nvSpPr>
          <p:cNvPr id="2" name="AutoShape 2" descr="Generated image"/>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 name="AutoShape 4" descr="Generated image"/>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3" name="Text Box 32"/>
          <p:cNvSpPr txBox="1"/>
          <p:nvPr/>
        </p:nvSpPr>
        <p:spPr>
          <a:xfrm>
            <a:off x="2125345" y="7052945"/>
            <a:ext cx="14110970" cy="2525395"/>
          </a:xfrm>
          <a:prstGeom prst="rect">
            <a:avLst/>
          </a:prstGeom>
        </p:spPr>
        <p:txBody>
          <a:bodyPr>
            <a:noAutofit/>
          </a:bodyPr>
          <a:lstStyle/>
          <a:p>
            <a:pPr marL="88900" indent="222250" algn="just" defTabSz="266700">
              <a:lnSpc>
                <a:spcPct val="167000"/>
              </a:lnSpc>
              <a:spcBef>
                <a:spcPct val="0"/>
              </a:spcBef>
              <a:spcAft>
                <a:spcPct val="0"/>
              </a:spcAft>
            </a:pPr>
            <a:endParaRPr sz="2400">
              <a:latin typeface="Times New Roman" panose="02020603050405020304"/>
              <a:ea typeface="Times New Roman" panose="02020603050405020304"/>
            </a:endParaRPr>
          </a:p>
        </p:txBody>
      </p:sp>
      <p:pic>
        <p:nvPicPr>
          <p:cNvPr id="32" name="Picture 31">
            <a:extLst>
              <a:ext uri="{FF2B5EF4-FFF2-40B4-BE49-F238E27FC236}">
                <a16:creationId xmlns:a16="http://schemas.microsoft.com/office/drawing/2014/main" id="{B7FD7202-C09F-E2FE-CB37-B69E34FA9077}"/>
              </a:ext>
            </a:extLst>
          </p:cNvPr>
          <p:cNvPicPr>
            <a:picLocks noChangeAspect="1"/>
          </p:cNvPicPr>
          <p:nvPr/>
        </p:nvPicPr>
        <p:blipFill>
          <a:blip r:embed="rId4"/>
          <a:stretch>
            <a:fillRect/>
          </a:stretch>
        </p:blipFill>
        <p:spPr>
          <a:xfrm>
            <a:off x="2971800" y="1774106"/>
            <a:ext cx="13341620" cy="72831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91275"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EF38AF6-AB2F-0E24-F179-F3169EF03DC0}"/>
              </a:ext>
            </a:extLst>
          </p:cNvPr>
          <p:cNvPicPr>
            <a:picLocks noChangeAspect="1"/>
          </p:cNvPicPr>
          <p:nvPr/>
        </p:nvPicPr>
        <p:blipFill>
          <a:blip r:embed="rId4"/>
          <a:stretch>
            <a:fillRect/>
          </a:stretch>
        </p:blipFill>
        <p:spPr>
          <a:xfrm>
            <a:off x="4267200" y="2481262"/>
            <a:ext cx="9753600" cy="5324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2663910"/>
            <a:ext cx="15849600" cy="2308324"/>
          </a:xfrm>
          <a:prstGeom prst="rect">
            <a:avLst/>
          </a:prstGeom>
          <a:noFill/>
        </p:spPr>
        <p:txBody>
          <a:bodyPr wrap="square" rtlCol="0">
            <a:spAutoFit/>
          </a:bodyPr>
          <a:lstStyle/>
          <a:p>
            <a:r>
              <a:rPr lang="en-IN" sz="3600" b="1" dirty="0"/>
              <a:t>Frontend:</a:t>
            </a:r>
            <a:r>
              <a:rPr lang="en-IN" sz="3600" dirty="0"/>
              <a:t> HTML5, CSS3, ReactJS (</a:t>
            </a:r>
            <a:r>
              <a:rPr lang="en-IN" sz="3600" b="1" dirty="0"/>
              <a:t>VS Code</a:t>
            </a:r>
            <a:r>
              <a:rPr lang="en-IN" sz="3600" dirty="0"/>
              <a:t>)</a:t>
            </a:r>
          </a:p>
          <a:p>
            <a:r>
              <a:rPr lang="en-IN" sz="3600" b="1" dirty="0"/>
              <a:t>Backend:</a:t>
            </a:r>
            <a:r>
              <a:rPr lang="en-IN" sz="3600" dirty="0"/>
              <a:t> Java, Spring Boot Microservices with Spring Data JPA/ORM (</a:t>
            </a:r>
            <a:r>
              <a:rPr lang="en-IN" sz="3600" b="1" dirty="0"/>
              <a:t>Eclipse</a:t>
            </a:r>
            <a:r>
              <a:rPr lang="en-IN" sz="3600" dirty="0"/>
              <a:t>)</a:t>
            </a:r>
          </a:p>
          <a:p>
            <a:r>
              <a:rPr lang="en-IN" sz="3600" b="1" dirty="0"/>
              <a:t>API Communication:</a:t>
            </a:r>
            <a:r>
              <a:rPr lang="en-IN" sz="3600" dirty="0"/>
              <a:t> RESTful APIs (Routed via Spring Cloud API Gateway)</a:t>
            </a:r>
          </a:p>
          <a:p>
            <a:r>
              <a:rPr lang="en-IN" sz="3600" b="1" dirty="0"/>
              <a:t>Database:</a:t>
            </a:r>
            <a:r>
              <a:rPr lang="en-IN" sz="3600" dirty="0"/>
              <a:t> MySQL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3644" y="2015465"/>
            <a:ext cx="15991597" cy="6001643"/>
          </a:xfrm>
          <a:prstGeom prst="rect">
            <a:avLst/>
          </a:prstGeom>
          <a:noFill/>
        </p:spPr>
        <p:txBody>
          <a:bodyPr wrap="square" rtlCol="0">
            <a:spAutoFit/>
          </a:bodyPr>
          <a:lstStyle/>
          <a:p>
            <a:pPr algn="just"/>
            <a:r>
              <a:rPr lang="en-GB" sz="2400" b="1" dirty="0"/>
              <a:t>MODULE DESCRIPTION</a:t>
            </a:r>
            <a:endParaRPr lang="en-GB" sz="2400" dirty="0"/>
          </a:p>
          <a:p>
            <a:pPr algn="just"/>
            <a:r>
              <a:rPr lang="en-GB" sz="2400" b="1" dirty="0"/>
              <a:t>Module 1: User Management Service</a:t>
            </a:r>
            <a:endParaRPr lang="en-GB" sz="2400" dirty="0"/>
          </a:p>
          <a:p>
            <a:pPr algn="just"/>
            <a:r>
              <a:rPr lang="en-GB" sz="2400" dirty="0"/>
              <a:t>Handles secure user registration, login, and profile management for both attendees and event organizers.</a:t>
            </a:r>
          </a:p>
          <a:p>
            <a:pPr algn="just"/>
            <a:r>
              <a:rPr lang="en-GB" sz="2400" dirty="0"/>
              <a:t>Provides authentication and authorization to ensure users only access their own data.</a:t>
            </a:r>
          </a:p>
          <a:p>
            <a:pPr algn="just"/>
            <a:r>
              <a:rPr lang="en-GB" sz="2400" b="1" dirty="0"/>
              <a:t>Module 2: Event Management Service</a:t>
            </a:r>
            <a:endParaRPr lang="en-GB" sz="2400" dirty="0"/>
          </a:p>
          <a:p>
            <a:pPr algn="just"/>
            <a:r>
              <a:rPr lang="en-GB" sz="2400" dirty="0"/>
              <a:t>Allows administrators and organizers to seamlessly create, update, and manage technical fest events.</a:t>
            </a:r>
          </a:p>
          <a:p>
            <a:pPr algn="just"/>
            <a:r>
              <a:rPr lang="en-GB" sz="2400" dirty="0"/>
              <a:t>Fetches and displays real-time event information to users, including schedules, descriptions, and total seat availability.</a:t>
            </a:r>
          </a:p>
          <a:p>
            <a:pPr algn="just"/>
            <a:r>
              <a:rPr lang="en-GB" sz="2400" b="1" dirty="0"/>
              <a:t>Module 3: Booking Management Service</a:t>
            </a:r>
            <a:endParaRPr lang="en-GB" sz="2400" dirty="0"/>
          </a:p>
          <a:p>
            <a:pPr algn="just"/>
            <a:r>
              <a:rPr lang="en-GB" sz="2400" dirty="0"/>
              <a:t>Manages the entire ticket booking workflow, preventing overbooking through real-time seat allocation.</a:t>
            </a:r>
          </a:p>
          <a:p>
            <a:pPr algn="just"/>
            <a:r>
              <a:rPr lang="en-GB" sz="2400" dirty="0"/>
              <a:t>Generates booking confirmations, processes the transaction status, and securely updates the user's ticket history.</a:t>
            </a:r>
          </a:p>
          <a:p>
            <a:pPr algn="just"/>
            <a:r>
              <a:rPr lang="en-GB" sz="2400" b="1" dirty="0"/>
              <a:t>Module 4: API Gateway &amp; Service Registry</a:t>
            </a:r>
            <a:r>
              <a:rPr lang="en-GB" sz="2400" dirty="0"/>
              <a:t> </a:t>
            </a:r>
            <a:r>
              <a:rPr lang="en-GB" sz="2400" i="1" dirty="0"/>
              <a:t>(Highlighting your Microservices!)</a:t>
            </a:r>
            <a:endParaRPr lang="en-GB" sz="2400" dirty="0"/>
          </a:p>
          <a:p>
            <a:pPr algn="just"/>
            <a:r>
              <a:rPr lang="en-GB" sz="2400" dirty="0"/>
              <a:t>Acts as the central entry point, securely routing all frontend React requests to the correct backend microservice.</a:t>
            </a:r>
          </a:p>
          <a:p>
            <a:pPr algn="just"/>
            <a:r>
              <a:rPr lang="en-GB" sz="2400" dirty="0"/>
              <a:t>Utilizes the Eureka Naming Server for dynamic service discovery, ensuring the system remains fault-tolerant and scalable.</a:t>
            </a:r>
          </a:p>
          <a:p>
            <a:pPr algn="just"/>
            <a:r>
              <a:rPr lang="en-GB" sz="2400" b="1" dirty="0"/>
              <a:t>Module 5: Database Management (MySQL)</a:t>
            </a:r>
            <a:endParaRPr lang="en-GB" sz="2400" dirty="0"/>
          </a:p>
          <a:p>
            <a:pPr algn="just"/>
            <a:r>
              <a:rPr lang="en-GB" sz="2400" dirty="0"/>
              <a:t>Securely stores isolated data for users, events, and bookings across dedicated database schemas.</a:t>
            </a:r>
          </a:p>
          <a:p>
            <a:pPr algn="just"/>
            <a:r>
              <a:rPr lang="en-GB" sz="2400" dirty="0"/>
              <a:t>Ensures high data integrity, efficient retrieval, and fast storage to handle high-traffic event registrations.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023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186309"/>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Home page</a:t>
            </a:r>
          </a:p>
          <a:p>
            <a:pPr marL="457200" indent="-457200">
              <a:buFontTx/>
              <a:buChar char="-"/>
            </a:pP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1" name="Picture 40">
            <a:extLst>
              <a:ext uri="{FF2B5EF4-FFF2-40B4-BE49-F238E27FC236}">
                <a16:creationId xmlns:a16="http://schemas.microsoft.com/office/drawing/2014/main" id="{5115725B-7424-4690-E6C8-EF0626C066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00" y="2216793"/>
            <a:ext cx="9372600" cy="69227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35924"/>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124754"/>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Sign Up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F7895108-FFD4-C39C-7195-C122AB1308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7917" y="2993583"/>
            <a:ext cx="10260054" cy="47354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3220"/>
          </a:xfrm>
          <a:prstGeom prst="rect">
            <a:avLst/>
          </a:prstGeom>
          <a:noFill/>
        </p:spPr>
        <p:txBody>
          <a:bodyPr wrap="square" rtlCol="0">
            <a:spAutoFit/>
          </a:bodyPr>
          <a:lstStyle/>
          <a:p>
            <a:r>
              <a:rPr lang="en-US" sz="2800" b="1" dirty="0"/>
              <a:t>Main module</a:t>
            </a:r>
          </a:p>
        </p:txBody>
      </p:sp>
      <p:pic>
        <p:nvPicPr>
          <p:cNvPr id="4" name="Picture 3">
            <a:extLst>
              <a:ext uri="{FF2B5EF4-FFF2-40B4-BE49-F238E27FC236}">
                <a16:creationId xmlns:a16="http://schemas.microsoft.com/office/drawing/2014/main" id="{770BBE5C-D576-C5C5-CFFA-4278E5F67A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4036" y="2658770"/>
            <a:ext cx="11724632" cy="564588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3220"/>
          </a:xfrm>
          <a:prstGeom prst="rect">
            <a:avLst/>
          </a:prstGeom>
          <a:noFill/>
        </p:spPr>
        <p:txBody>
          <a:bodyPr wrap="square" rtlCol="0">
            <a:spAutoFit/>
          </a:bodyPr>
          <a:lstStyle/>
          <a:p>
            <a:r>
              <a:rPr lang="en-US" sz="2800" b="1" dirty="0"/>
              <a:t>Output page</a:t>
            </a:r>
            <a:endParaRPr lang="en-IN" sz="2800" b="1" dirty="0"/>
          </a:p>
        </p:txBody>
      </p:sp>
      <p:pic>
        <p:nvPicPr>
          <p:cNvPr id="6" name="Picture 5">
            <a:extLst>
              <a:ext uri="{FF2B5EF4-FFF2-40B4-BE49-F238E27FC236}">
                <a16:creationId xmlns:a16="http://schemas.microsoft.com/office/drawing/2014/main" id="{ED2E1929-DD8B-F997-3B22-071F10F76CD3}"/>
              </a:ext>
            </a:extLst>
          </p:cNvPr>
          <p:cNvPicPr>
            <a:picLocks noChangeAspect="1"/>
          </p:cNvPicPr>
          <p:nvPr/>
        </p:nvPicPr>
        <p:blipFill>
          <a:blip r:embed="rId4"/>
          <a:stretch>
            <a:fillRect/>
          </a:stretch>
        </p:blipFill>
        <p:spPr>
          <a:xfrm>
            <a:off x="3984036" y="2944528"/>
            <a:ext cx="11954589" cy="50945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958839" y="1524863"/>
            <a:ext cx="16138661" cy="7848302"/>
          </a:xfrm>
          <a:prstGeom prst="rect">
            <a:avLst/>
          </a:prstGeom>
          <a:noFill/>
        </p:spPr>
        <p:txBody>
          <a:bodyPr wrap="square">
            <a:spAutoFit/>
          </a:bodyPr>
          <a:lstStyle/>
          <a:p>
            <a:pPr algn="just"/>
            <a:r>
              <a:rPr lang="en-GB" sz="2800" b="1" dirty="0"/>
              <a:t>ADVANTAGES &amp; LIMITATIONS:</a:t>
            </a:r>
          </a:p>
          <a:p>
            <a:pPr marL="457200" indent="-457200" algn="just">
              <a:buFont typeface="Arial" panose="020B0604020202020204" pitchFamily="34" charset="0"/>
              <a:buChar char="•"/>
            </a:pPr>
            <a:endParaRPr lang="en-GB" sz="2800" dirty="0"/>
          </a:p>
          <a:p>
            <a:pPr algn="just"/>
            <a:r>
              <a:rPr lang="en-GB" sz="2800" b="1" dirty="0"/>
              <a:t>- ADVANTAGES:</a:t>
            </a:r>
            <a:endParaRPr lang="en-GB" sz="2800" dirty="0"/>
          </a:p>
          <a:p>
            <a:pPr marL="914400" lvl="1" indent="-457200" algn="just">
              <a:buFont typeface="Arial" panose="020B0604020202020204" pitchFamily="34" charset="0"/>
              <a:buChar char="•"/>
            </a:pPr>
            <a:r>
              <a:rPr lang="en-GB" sz="2800" b="1" dirty="0"/>
              <a:t>24/7 Accessibility:</a:t>
            </a:r>
            <a:r>
              <a:rPr lang="en-GB" sz="2800" dirty="0"/>
              <a:t> Provides round-the-clock online ticket booking, completely eliminating the need for physical queues.</a:t>
            </a:r>
          </a:p>
          <a:p>
            <a:pPr marL="914400" lvl="1" indent="-457200" algn="just">
              <a:buFont typeface="Arial" panose="020B0604020202020204" pitchFamily="34" charset="0"/>
              <a:buChar char="•"/>
            </a:pPr>
            <a:r>
              <a:rPr lang="en-GB" sz="2800" b="1" dirty="0"/>
              <a:t>Real-Time Updates:</a:t>
            </a:r>
            <a:r>
              <a:rPr lang="en-GB" sz="2800" dirty="0"/>
              <a:t> Instantly displays live event details and dynamic seat availability.</a:t>
            </a:r>
          </a:p>
          <a:p>
            <a:pPr marL="914400" lvl="1" indent="-457200" algn="just">
              <a:buFont typeface="Arial" panose="020B0604020202020204" pitchFamily="34" charset="0"/>
              <a:buChar char="•"/>
            </a:pPr>
            <a:r>
              <a:rPr lang="en-GB" sz="2800" b="1" dirty="0"/>
              <a:t>High Accuracy:</a:t>
            </a:r>
            <a:r>
              <a:rPr lang="en-GB" sz="2800" dirty="0"/>
              <a:t> Automates the ticketing process to reduce manual errors and prevent overbooking.</a:t>
            </a:r>
          </a:p>
          <a:p>
            <a:pPr marL="914400" lvl="1" indent="-457200" algn="just">
              <a:buFont typeface="Arial" panose="020B0604020202020204" pitchFamily="34" charset="0"/>
              <a:buChar char="•"/>
            </a:pPr>
            <a:r>
              <a:rPr lang="en-GB" sz="2800" b="1" dirty="0"/>
              <a:t>Enhanced User Experience:</a:t>
            </a:r>
            <a:r>
              <a:rPr lang="en-GB" sz="2800" dirty="0"/>
              <a:t> Offers a fast, seamless, and convenient booking interface built with React.</a:t>
            </a:r>
          </a:p>
          <a:p>
            <a:pPr marL="457200" indent="-457200" algn="just">
              <a:buFont typeface="Arial" panose="020B0604020202020204" pitchFamily="34" charset="0"/>
              <a:buChar char="•"/>
            </a:pPr>
            <a:endParaRPr lang="en-GB" sz="2800" dirty="0"/>
          </a:p>
          <a:p>
            <a:pPr algn="just"/>
            <a:r>
              <a:rPr lang="en-GB" sz="2800" b="1" dirty="0"/>
              <a:t>- LIMITATIONS:</a:t>
            </a:r>
            <a:endParaRPr lang="en-GB" sz="2800" dirty="0"/>
          </a:p>
          <a:p>
            <a:pPr marL="914400" lvl="1" indent="-457200" algn="just">
              <a:buFont typeface="Arial" panose="020B0604020202020204" pitchFamily="34" charset="0"/>
              <a:buChar char="•"/>
            </a:pPr>
            <a:r>
              <a:rPr lang="en-GB" sz="2800" b="1" dirty="0"/>
              <a:t>Internet Dependency:</a:t>
            </a:r>
            <a:r>
              <a:rPr lang="en-GB" sz="2800" dirty="0"/>
              <a:t> Requires a stable internet connection for users to browse events and book tickets.</a:t>
            </a:r>
          </a:p>
          <a:p>
            <a:pPr marL="914400" lvl="1" indent="-457200" algn="just">
              <a:buFont typeface="Arial" panose="020B0604020202020204" pitchFamily="34" charset="0"/>
              <a:buChar char="•"/>
            </a:pPr>
            <a:r>
              <a:rPr lang="en-GB" sz="2800" b="1" dirty="0"/>
              <a:t>Development Complexity:</a:t>
            </a:r>
            <a:r>
              <a:rPr lang="en-GB" sz="2800" dirty="0"/>
              <a:t> The initial setup and development of a full-stack microservices architecture can be complex and time-consuming.</a:t>
            </a:r>
          </a:p>
          <a:p>
            <a:pPr marL="914400" lvl="1" indent="-457200" algn="just">
              <a:buFont typeface="Arial" panose="020B0604020202020204" pitchFamily="34" charset="0"/>
              <a:buChar char="•"/>
            </a:pPr>
            <a:r>
              <a:rPr lang="en-GB" sz="2800" b="1" dirty="0"/>
              <a:t>Server Reliance:</a:t>
            </a:r>
            <a:r>
              <a:rPr lang="en-GB" sz="2800" dirty="0"/>
              <a:t> Dependency on server uptime; any backend downtime directly affects the users' ability to book tickets.</a:t>
            </a:r>
          </a:p>
          <a:p>
            <a:pPr marL="914400" lvl="1" indent="-457200" algn="just">
              <a:buFont typeface="Arial" panose="020B0604020202020204" pitchFamily="34" charset="0"/>
              <a:buChar char="•"/>
            </a:pPr>
            <a:r>
              <a:rPr lang="en-GB" sz="2800" b="1" dirty="0"/>
              <a:t>Security Vulnerabilities:</a:t>
            </a:r>
            <a:r>
              <a:rPr lang="en-GB" sz="2800" dirty="0"/>
              <a:t> Like all web applications, it faces potential cyber threats if security protocols are not rigorously maintained.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1228</Words>
  <Application>Microsoft Office PowerPoint</Application>
  <PresentationFormat>Custom</PresentationFormat>
  <Paragraphs>232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vt:lpstr>
      <vt:lpstr>Calibri</vt:lpstr>
      <vt:lpstr>Arial</vt:lpstr>
      <vt:lpstr>Gotham Bold Italics</vt:lpstr>
      <vt:lpstr>Gotham</vt:lpstr>
      <vt:lpstr>Cambria</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Jahnavi Gummadi</dc:creator>
  <cp:lastModifiedBy>Jayadeep Gutha</cp:lastModifiedBy>
  <cp:revision>23</cp:revision>
  <dcterms:created xsi:type="dcterms:W3CDTF">2006-08-16T00:00:00Z</dcterms:created>
  <dcterms:modified xsi:type="dcterms:W3CDTF">2026-05-05T18:47:51Z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4D0619506CE043EE84ED92F23382E14E_13</vt:lpwstr>
  </property>
</Properties>
</file>